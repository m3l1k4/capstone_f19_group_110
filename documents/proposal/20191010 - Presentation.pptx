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6024880D-02FC-447F-BB3E-87BEF3945126}">
  <a:tblStyle styleId="{6024880D-02FC-447F-BB3E-87BEF394512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Lato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64d2ea72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64d2ea72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64dbdd402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64dbdd402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64e17ee269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64e17ee269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64e17ee269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64e17ee269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64e17ee269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64e17ee269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64dbdd402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64dbdd402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64e17ee269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64e17ee269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64dbdd402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64dbdd402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64dbdd40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64dbdd40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64dbdd402e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64dbdd402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64e17ee269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64e17ee269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 do : azure email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Recap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3"/>
          <p:cNvSpPr txBox="1"/>
          <p:nvPr>
            <p:ph idx="1" type="body"/>
          </p:nvPr>
        </p:nvSpPr>
        <p:spPr>
          <a:xfrm>
            <a:off x="1297500" y="1116150"/>
            <a:ext cx="7038900" cy="32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Over last two weeks,</a:t>
            </a:r>
            <a:endParaRPr sz="1400"/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Started brainstorming solutions for product</a:t>
            </a:r>
            <a:endParaRPr sz="1400"/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Compiling list of components we need and the anticipated cost</a:t>
            </a:r>
            <a:endParaRPr sz="1400"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Met with client yesterday </a:t>
            </a:r>
            <a:endParaRPr sz="1400"/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Primary contact + technical contact present</a:t>
            </a:r>
            <a:endParaRPr sz="1400"/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Discussed potential solutions that will integrate within their POS system</a:t>
            </a:r>
            <a:endParaRPr sz="1400"/>
          </a:p>
          <a:p>
            <a:pPr indent="-31750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400"/>
              <a:t>The system is a black box , so this is important</a:t>
            </a:r>
            <a:endParaRPr sz="1400"/>
          </a:p>
          <a:p>
            <a:pPr indent="0" lvl="0" marL="0" rtl="0" algn="l">
              <a:lnSpc>
                <a:spcPct val="2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RCGs</a:t>
            </a:r>
            <a:endParaRPr/>
          </a:p>
        </p:txBody>
      </p:sp>
      <p:graphicFrame>
        <p:nvGraphicFramePr>
          <p:cNvPr id="141" name="Google Shape;141;p14"/>
          <p:cNvGraphicFramePr/>
          <p:nvPr/>
        </p:nvGraphicFramePr>
        <p:xfrm>
          <a:off x="952500" y="1085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{6024880D-02FC-447F-BB3E-87BEF3945126}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Requirements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Constraints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Goals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Wireless communication (between end and edge device)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End to edge must use low power , low bandwidth protocol. Ex; zigbee 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Scalable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Low power consumption (IoT)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End to cloud must be use high bandwidth ex; wifi or ethernet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Low production cost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MS Azure 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Real time data handling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Should have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/>
              <a:t>Wireless communication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/>
              <a:t>low power consumption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/>
              <a:t>Configure to handle microsoft Azure API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/>
              <a:t>Scalable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/>
              <a:t>Real time data handling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Could Have or nice to have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/>
              <a:t>Run on rechargeable batteries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/>
              <a:t>Minimalistic azure developed UI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Will not have ( at this time)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/>
              <a:t>Multiple end devices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/>
              <a:t>Interchangeable</a:t>
            </a:r>
            <a:r>
              <a:rPr lang="en-GB" sz="1400"/>
              <a:t>  high bandwidth communication protocol ( i.e. can  switch from http to mqtt depending on the environment)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/>
              <a:t>Interchangeable</a:t>
            </a:r>
            <a:r>
              <a:rPr lang="en-GB" sz="1400"/>
              <a:t> low bandwidth protocol 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Overview of System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25" y="1567550"/>
            <a:ext cx="36561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 sz="1400"/>
              <a:t>End device (with weight sensor) sends data to Edge device (middle layer) via IoT protocol. Zigbee is being considered.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 sz="1400"/>
              <a:t>Edge device sends data to Azure IoT Cloud via internet protocol (Wifi, Ethernet)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 sz="1400"/>
              <a:t>User is able to access data from End devices from Azure Interface</a:t>
            </a:r>
            <a:endParaRPr sz="1400"/>
          </a:p>
        </p:txBody>
      </p:sp>
      <p:sp>
        <p:nvSpPr>
          <p:cNvPr id="166" name="Google Shape;166;p18"/>
          <p:cNvSpPr/>
          <p:nvPr/>
        </p:nvSpPr>
        <p:spPr>
          <a:xfrm>
            <a:off x="5107800" y="3253725"/>
            <a:ext cx="1167600" cy="84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6429570" y="3253713"/>
            <a:ext cx="1167600" cy="84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7727770" y="3253725"/>
            <a:ext cx="1167600" cy="84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454489" y="1979725"/>
            <a:ext cx="2829600" cy="73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abstraction middle layer 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5213061" y="4254000"/>
            <a:ext cx="11676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Container 1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6380422" y="4254000"/>
            <a:ext cx="11676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Container 2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7857717" y="4254000"/>
            <a:ext cx="11676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Container 3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5454489" y="914100"/>
            <a:ext cx="2829600" cy="73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Upstream; Azure IoT hub</a:t>
            </a:r>
            <a:endParaRPr/>
          </a:p>
        </p:txBody>
      </p:sp>
      <p:grpSp>
        <p:nvGrpSpPr>
          <p:cNvPr id="174" name="Google Shape;174;p18"/>
          <p:cNvGrpSpPr/>
          <p:nvPr/>
        </p:nvGrpSpPr>
        <p:grpSpPr>
          <a:xfrm>
            <a:off x="5213149" y="3334075"/>
            <a:ext cx="571501" cy="435325"/>
            <a:chOff x="805600" y="3842125"/>
            <a:chExt cx="576400" cy="435325"/>
          </a:xfrm>
        </p:grpSpPr>
        <p:sp>
          <p:nvSpPr>
            <p:cNvPr id="175" name="Google Shape;175;p18"/>
            <p:cNvSpPr/>
            <p:nvPr/>
          </p:nvSpPr>
          <p:spPr>
            <a:xfrm>
              <a:off x="805600" y="3842125"/>
              <a:ext cx="247800" cy="1734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FFFF00"/>
                </a:highlight>
              </a:endParaRPr>
            </a:p>
          </p:txBody>
        </p:sp>
        <p:sp>
          <p:nvSpPr>
            <p:cNvPr id="176" name="Google Shape;176;p18"/>
            <p:cNvSpPr/>
            <p:nvPr/>
          </p:nvSpPr>
          <p:spPr>
            <a:xfrm>
              <a:off x="1134200" y="3842125"/>
              <a:ext cx="247800" cy="1734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FFFF00"/>
                </a:highlight>
              </a:endParaRPr>
            </a:p>
          </p:txBody>
        </p:sp>
        <p:sp>
          <p:nvSpPr>
            <p:cNvPr id="177" name="Google Shape;177;p18"/>
            <p:cNvSpPr/>
            <p:nvPr/>
          </p:nvSpPr>
          <p:spPr>
            <a:xfrm>
              <a:off x="970400" y="4104050"/>
              <a:ext cx="247800" cy="1734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FFFF00"/>
                </a:highlight>
              </a:endParaRPr>
            </a:p>
          </p:txBody>
        </p:sp>
      </p:grpSp>
      <p:grpSp>
        <p:nvGrpSpPr>
          <p:cNvPr id="178" name="Google Shape;178;p18"/>
          <p:cNvGrpSpPr/>
          <p:nvPr/>
        </p:nvGrpSpPr>
        <p:grpSpPr>
          <a:xfrm>
            <a:off x="6482277" y="3334075"/>
            <a:ext cx="571501" cy="435325"/>
            <a:chOff x="805600" y="3842125"/>
            <a:chExt cx="576400" cy="435325"/>
          </a:xfrm>
        </p:grpSpPr>
        <p:sp>
          <p:nvSpPr>
            <p:cNvPr id="179" name="Google Shape;179;p18"/>
            <p:cNvSpPr/>
            <p:nvPr/>
          </p:nvSpPr>
          <p:spPr>
            <a:xfrm>
              <a:off x="805600" y="3842125"/>
              <a:ext cx="247800" cy="1734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1134200" y="3842125"/>
              <a:ext cx="247800" cy="1734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970400" y="4104050"/>
              <a:ext cx="247800" cy="1734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" name="Google Shape;182;p18"/>
          <p:cNvGrpSpPr/>
          <p:nvPr/>
        </p:nvGrpSpPr>
        <p:grpSpPr>
          <a:xfrm>
            <a:off x="7751429" y="3334075"/>
            <a:ext cx="571501" cy="435325"/>
            <a:chOff x="805600" y="3842125"/>
            <a:chExt cx="576400" cy="435325"/>
          </a:xfrm>
        </p:grpSpPr>
        <p:sp>
          <p:nvSpPr>
            <p:cNvPr id="183" name="Google Shape;183;p18"/>
            <p:cNvSpPr/>
            <p:nvPr/>
          </p:nvSpPr>
          <p:spPr>
            <a:xfrm>
              <a:off x="805600" y="3842125"/>
              <a:ext cx="247800" cy="1734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8"/>
            <p:cNvSpPr/>
            <p:nvPr/>
          </p:nvSpPr>
          <p:spPr>
            <a:xfrm>
              <a:off x="1134200" y="3842125"/>
              <a:ext cx="247800" cy="1734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8"/>
            <p:cNvSpPr/>
            <p:nvPr/>
          </p:nvSpPr>
          <p:spPr>
            <a:xfrm>
              <a:off x="970400" y="4104050"/>
              <a:ext cx="247800" cy="1734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86" name="Google Shape;186;p18"/>
          <p:cNvCxnSpPr/>
          <p:nvPr/>
        </p:nvCxnSpPr>
        <p:spPr>
          <a:xfrm flipH="1" rot="10800000">
            <a:off x="5974993" y="2749500"/>
            <a:ext cx="244800" cy="68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7" name="Google Shape;187;p18"/>
          <p:cNvCxnSpPr>
            <a:endCxn id="169" idx="2"/>
          </p:cNvCxnSpPr>
          <p:nvPr/>
        </p:nvCxnSpPr>
        <p:spPr>
          <a:xfrm rot="10800000">
            <a:off x="6869289" y="2709925"/>
            <a:ext cx="399300" cy="773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8" name="Google Shape;188;p18"/>
          <p:cNvCxnSpPr/>
          <p:nvPr/>
        </p:nvCxnSpPr>
        <p:spPr>
          <a:xfrm rot="10800000">
            <a:off x="8137643" y="2705850"/>
            <a:ext cx="399300" cy="773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9" name="Google Shape;189;p18"/>
          <p:cNvCxnSpPr/>
          <p:nvPr/>
        </p:nvCxnSpPr>
        <p:spPr>
          <a:xfrm flipH="1" rot="10800000">
            <a:off x="6763297" y="1482600"/>
            <a:ext cx="9900" cy="69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>
            <p:ph type="title"/>
          </p:nvPr>
        </p:nvSpPr>
        <p:spPr>
          <a:xfrm>
            <a:off x="1137775" y="688113"/>
            <a:ext cx="35730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Breakdown</a:t>
            </a:r>
            <a:r>
              <a:rPr lang="en-GB"/>
              <a:t> of System</a:t>
            </a:r>
            <a:endParaRPr/>
          </a:p>
        </p:txBody>
      </p:sp>
      <p:grpSp>
        <p:nvGrpSpPr>
          <p:cNvPr id="195" name="Google Shape;195;p19"/>
          <p:cNvGrpSpPr/>
          <p:nvPr/>
        </p:nvGrpSpPr>
        <p:grpSpPr>
          <a:xfrm>
            <a:off x="459738" y="1115200"/>
            <a:ext cx="8038588" cy="2677350"/>
            <a:chOff x="459738" y="1115200"/>
            <a:chExt cx="8038588" cy="2677350"/>
          </a:xfrm>
        </p:grpSpPr>
        <p:sp>
          <p:nvSpPr>
            <p:cNvPr id="196" name="Google Shape;196;p19"/>
            <p:cNvSpPr/>
            <p:nvPr/>
          </p:nvSpPr>
          <p:spPr>
            <a:xfrm>
              <a:off x="459738" y="2016138"/>
              <a:ext cx="979200" cy="401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sensor</a:t>
              </a:r>
              <a:endParaRPr/>
            </a:p>
          </p:txBody>
        </p:sp>
        <p:sp>
          <p:nvSpPr>
            <p:cNvPr id="197" name="Google Shape;197;p19"/>
            <p:cNvSpPr/>
            <p:nvPr/>
          </p:nvSpPr>
          <p:spPr>
            <a:xfrm>
              <a:off x="2376075" y="1751838"/>
              <a:ext cx="1963200" cy="7065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Low band communication and processing unit</a:t>
              </a:r>
              <a:endParaRPr/>
            </a:p>
          </p:txBody>
        </p:sp>
        <p:sp>
          <p:nvSpPr>
            <p:cNvPr id="198" name="Google Shape;198;p19"/>
            <p:cNvSpPr/>
            <p:nvPr/>
          </p:nvSpPr>
          <p:spPr>
            <a:xfrm>
              <a:off x="645675" y="3253450"/>
              <a:ext cx="2027700" cy="539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Com low band </a:t>
              </a:r>
              <a:r>
                <a:rPr lang="en-GB"/>
                <a:t>processing</a:t>
              </a:r>
              <a:r>
                <a:rPr lang="en-GB"/>
                <a:t> unit</a:t>
              </a:r>
              <a:endParaRPr/>
            </a:p>
          </p:txBody>
        </p:sp>
        <p:sp>
          <p:nvSpPr>
            <p:cNvPr id="199" name="Google Shape;199;p19"/>
            <p:cNvSpPr/>
            <p:nvPr/>
          </p:nvSpPr>
          <p:spPr>
            <a:xfrm>
              <a:off x="3801225" y="3155947"/>
              <a:ext cx="1405500" cy="636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Processing RAM</a:t>
              </a:r>
              <a:endParaRPr/>
            </a:p>
          </p:txBody>
        </p:sp>
        <p:sp>
          <p:nvSpPr>
            <p:cNvPr id="200" name="Google Shape;200;p19"/>
            <p:cNvSpPr/>
            <p:nvPr/>
          </p:nvSpPr>
          <p:spPr>
            <a:xfrm>
              <a:off x="6535125" y="3042735"/>
              <a:ext cx="1963200" cy="7065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High bandwidth </a:t>
              </a:r>
              <a:r>
                <a:rPr lang="en-GB"/>
                <a:t>communication unit</a:t>
              </a:r>
              <a:endParaRPr/>
            </a:p>
          </p:txBody>
        </p:sp>
        <p:sp>
          <p:nvSpPr>
            <p:cNvPr id="201" name="Google Shape;201;p19"/>
            <p:cNvSpPr/>
            <p:nvPr/>
          </p:nvSpPr>
          <p:spPr>
            <a:xfrm>
              <a:off x="6879675" y="1115200"/>
              <a:ext cx="1517184" cy="636660"/>
            </a:xfrm>
            <a:prstGeom prst="cloud">
              <a:avLst/>
            </a:prstGeom>
            <a:solidFill>
              <a:srgbClr val="D0E0E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IoT Hub</a:t>
              </a:r>
              <a:endParaRPr/>
            </a:p>
          </p:txBody>
        </p:sp>
        <p:cxnSp>
          <p:nvCxnSpPr>
            <p:cNvPr id="202" name="Google Shape;202;p19"/>
            <p:cNvCxnSpPr/>
            <p:nvPr/>
          </p:nvCxnSpPr>
          <p:spPr>
            <a:xfrm flipH="1">
              <a:off x="2086025" y="2539850"/>
              <a:ext cx="818100" cy="632100"/>
            </a:xfrm>
            <a:prstGeom prst="straightConnector1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3" name="Google Shape;203;p19"/>
            <p:cNvSpPr/>
            <p:nvPr/>
          </p:nvSpPr>
          <p:spPr>
            <a:xfrm>
              <a:off x="1617425" y="1975038"/>
              <a:ext cx="468600" cy="483300"/>
            </a:xfrm>
            <a:prstGeom prst="mathPlus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2902725" y="3281350"/>
              <a:ext cx="468600" cy="483300"/>
            </a:xfrm>
            <a:prstGeom prst="mathPlus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5636613" y="3232600"/>
              <a:ext cx="468600" cy="483300"/>
            </a:xfrm>
            <a:prstGeom prst="mathPlus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6" name="Google Shape;206;p19"/>
            <p:cNvCxnSpPr>
              <a:endCxn id="201" idx="1"/>
            </p:cNvCxnSpPr>
            <p:nvPr/>
          </p:nvCxnSpPr>
          <p:spPr>
            <a:xfrm rot="10800000">
              <a:off x="7638267" y="1751182"/>
              <a:ext cx="245400" cy="1235700"/>
            </a:xfrm>
            <a:prstGeom prst="straightConnector1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Milestones</a:t>
            </a:r>
            <a:endParaRPr/>
          </a:p>
        </p:txBody>
      </p:sp>
      <p:sp>
        <p:nvSpPr>
          <p:cNvPr id="212" name="Google Shape;212;p20"/>
          <p:cNvSpPr txBox="1"/>
          <p:nvPr>
            <p:ph idx="1" type="body"/>
          </p:nvPr>
        </p:nvSpPr>
        <p:spPr>
          <a:xfrm>
            <a:off x="1297500" y="1195725"/>
            <a:ext cx="7038900" cy="23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 sz="1400"/>
              <a:t>Individual hardware components at a functional level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 sz="1400"/>
              <a:t>End device (sensor + communication module)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 sz="1400"/>
              <a:t>Edge device (communication module for end device and IoT)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 sz="1400"/>
              <a:t>Integration into one system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 sz="1400"/>
              <a:t>End device to Edge device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 sz="1400"/>
              <a:t>Edge device to IoT Hub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 sz="1400"/>
              <a:t>MS Azure User Interface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 sz="1400"/>
              <a:t>Develop a UI using MS Azure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/>
          <p:nvPr>
            <p:ph type="title"/>
          </p:nvPr>
        </p:nvSpPr>
        <p:spPr>
          <a:xfrm>
            <a:off x="1347100" y="2202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Timeline</a:t>
            </a:r>
            <a:endParaRPr/>
          </a:p>
        </p:txBody>
      </p:sp>
      <p:sp>
        <p:nvSpPr>
          <p:cNvPr id="218" name="Google Shape;218;p21"/>
          <p:cNvSpPr txBox="1"/>
          <p:nvPr>
            <p:ph idx="1" type="body"/>
          </p:nvPr>
        </p:nvSpPr>
        <p:spPr>
          <a:xfrm>
            <a:off x="1347100" y="7371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Design will be finalized soon after proposal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Begin ordering misc parts as soon as account is open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Client is checking their inventory for dev boards and suggested to order major components under $100 through.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We are checking our own inventory from previous projects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2-3 weeks per ‘mini project’: configuration + troubleshooting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488" y="2086775"/>
            <a:ext cx="8589023" cy="273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Technical Task Distribution based on skill-set</a:t>
            </a:r>
            <a:endParaRPr/>
          </a:p>
        </p:txBody>
      </p:sp>
      <p:graphicFrame>
        <p:nvGraphicFramePr>
          <p:cNvPr id="225" name="Google Shape;225;p22"/>
          <p:cNvGraphicFramePr/>
          <p:nvPr/>
        </p:nvGraphicFramePr>
        <p:xfrm>
          <a:off x="373250" y="130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{6024880D-02FC-447F-BB3E-87BEF3945126}</a:tableStyleId>
              </a:tblPr>
              <a:tblGrid>
                <a:gridCol w="1269025"/>
                <a:gridCol w="2260525"/>
                <a:gridCol w="1654025"/>
                <a:gridCol w="1659800"/>
                <a:gridCol w="1659800"/>
              </a:tblGrid>
              <a:tr h="46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</a:rPr>
                        <a:t>Ammar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</a:rPr>
                        <a:t>Melika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</a:rPr>
                        <a:t>Wency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</a:rPr>
                        <a:t>Adil 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1C4587"/>
                    </a:solidFill>
                  </a:tcPr>
                </a:tc>
              </a:tr>
              <a:tr h="966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</a:rPr>
                        <a:t>Skill Area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Low bandwidth  Communication protocols integration ( end devices)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Cloud integration ( edge devices)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Data handling software , and software QA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Hardware-software integration 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966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</a:rPr>
                        <a:t>Notes of concern 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Currently out of the country. Anticipated to be back on the 14th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28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28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</a:rPr>
                        <a:t>Laptop recently water damaged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Non-technical task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distribution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1053600" y="1450100"/>
            <a:ext cx="72828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-"/>
            </a:pPr>
            <a:r>
              <a:rPr lang="en-GB">
                <a:solidFill>
                  <a:srgbClr val="FFFFFF"/>
                </a:solidFill>
              </a:rPr>
              <a:t>We all are communicating through one email screen name, so admin tasks have been done based on who is free to do it the earliest </a:t>
            </a:r>
            <a:endParaRPr>
              <a:solidFill>
                <a:srgbClr val="FFFFF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-"/>
            </a:pPr>
            <a:r>
              <a:rPr lang="en-GB">
                <a:solidFill>
                  <a:srgbClr val="FFFFFF"/>
                </a:solidFill>
              </a:rPr>
              <a:t>Everyone is listed as a delegate and has access to mailbox</a:t>
            </a:r>
            <a:endParaRPr>
              <a:solidFill>
                <a:srgbClr val="FFFFF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-"/>
            </a:pPr>
            <a:r>
              <a:rPr lang="en-GB">
                <a:solidFill>
                  <a:srgbClr val="FFFFFF"/>
                </a:solidFill>
              </a:rPr>
              <a:t>This is run quickly  by other members either in person or in memos, to avoid duplicate emails, tasks etc.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