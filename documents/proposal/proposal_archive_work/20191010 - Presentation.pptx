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Light" panose="020F0302020204030204" pitchFamily="34" charset="0"/>
      <p:regular r:id="rId18"/>
      <p: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24880D-02FC-447F-BB3E-87BEF3945126}">
  <a:tblStyle styleId="{6024880D-02FC-447F-BB3E-87BEF39451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1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4d2ea72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4d2ea72d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64dbdd402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64dbdd402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64e17ee269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64e17ee269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64e17ee269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64e17ee269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64e17ee269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64e17ee269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64dbdd402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64dbdd402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64e17ee26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64e17ee26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64dbdd402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64dbdd402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64dbdd40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64dbdd40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4dbdd402e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4dbdd402e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64e17ee269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64e17ee269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do : azure email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F180A-8197-4514-83E4-F4C78EDF2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92FEA-09B6-4F55-B708-3BFEEAE3A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C25EB-6836-41AD-AF1E-3D2736A29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DCC3-16A4-4002-9AE0-05C7020BA129}" type="datetimeFigureOut">
              <a:rPr lang="en-CA" smtClean="0"/>
              <a:t>2019-10-14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C3E88-E6C9-4F0B-9C03-8F03C928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B397A-8E49-4B56-83AE-894B04027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27448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EC7EB-68C3-453C-BAE2-3200C2C1D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76D73-E696-49A1-8B97-D193D02C5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77183-D125-4EF7-8F5D-08628513A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DCC3-16A4-4002-9AE0-05C7020BA129}" type="datetimeFigureOut">
              <a:rPr lang="en-CA" smtClean="0"/>
              <a:t>2019-10-14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2351C-02F0-45E8-9AAC-8C8A2414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A93B-C2C8-475F-8650-656244D32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50677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CA9D6-E383-45EA-9E1D-0A8873563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6D6D6-387C-4991-92A2-95C511C31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5518E-B9D9-4D2E-8444-A87199095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DCC3-16A4-4002-9AE0-05C7020BA129}" type="datetimeFigureOut">
              <a:rPr lang="en-CA" smtClean="0"/>
              <a:t>2019-10-14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9CBF5-6D16-4A84-B987-23E0BB68A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F0F82-541C-4308-884F-DAB959F7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01130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DF45F-8892-4C72-87B3-1CFE27AE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BE037-95BF-4D11-A989-B4418D7EBC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207032-2565-4F43-B50A-7994F66D3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47C5D-1074-4898-BA08-2C142470A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DCC3-16A4-4002-9AE0-05C7020BA129}" type="datetimeFigureOut">
              <a:rPr lang="en-CA" smtClean="0"/>
              <a:t>2019-10-14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1D823-D0B6-4E1E-B775-8112AD53E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C14E5-8364-49D9-9E06-9F8356AD9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7020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29335-D401-40D7-8293-319D33394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01FA7-193B-4E8B-A99B-B449273F0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31B85-CC44-4FCA-AAD1-013758265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278582-EADD-4CDF-BEC4-FAE985640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38948-03A8-4C3E-95C4-F54907141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B71243-88E1-4178-8C4B-BCCAA89C1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DCC3-16A4-4002-9AE0-05C7020BA129}" type="datetimeFigureOut">
              <a:rPr lang="en-CA" smtClean="0"/>
              <a:t>2019-10-14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58352-8A41-4693-9507-16933C517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25448E-9ACB-4356-9801-EF901283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3666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4ED23-99D8-44A3-851F-25598E576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268EA8-5C01-4D3E-BA54-031BB464E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DCC3-16A4-4002-9AE0-05C7020BA129}" type="datetimeFigureOut">
              <a:rPr lang="en-CA" smtClean="0"/>
              <a:t>2019-10-14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71D77-D881-4C3E-9386-72A4D1998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DD816-3492-44A5-900E-3F7F96FAD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51001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0C733-9125-49B2-873B-A28E207A0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DCC3-16A4-4002-9AE0-05C7020BA129}" type="datetimeFigureOut">
              <a:rPr lang="en-CA" smtClean="0"/>
              <a:t>2019-10-14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20E9F-F522-4B0F-B6E1-12549A5E2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F6C3B-EDE6-44B2-A6F5-0BFECC29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0527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CFFDD-F0BF-4FB6-9722-ED04361AB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1695E-A151-4D34-A6B0-B04D81A35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85641-5202-4F6E-BF77-95AB17EA8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3DF73-943D-48C8-AAC2-56B56B45F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DCC3-16A4-4002-9AE0-05C7020BA129}" type="datetimeFigureOut">
              <a:rPr lang="en-CA" smtClean="0"/>
              <a:t>2019-10-14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74ACC-2258-4886-8C2B-8692BEC1E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04595-2F22-4E09-BCB8-194DF67A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9421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104E6-1880-4961-BB52-17119C4B7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9F139A-9218-4975-9F94-5BFE98122D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73376-C217-4CBA-926F-552A5B758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68B04-1CDD-41E4-B2CC-D0A2D0F4B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DCC3-16A4-4002-9AE0-05C7020BA129}" type="datetimeFigureOut">
              <a:rPr lang="en-CA" smtClean="0"/>
              <a:t>2019-10-14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D7F5A-997C-4BF5-AF28-6BBAC7485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E76A8-C55A-47CC-B576-34D7D8758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744994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1367-10C5-4677-A6DD-985A74250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A4F8C1-7246-4442-BEEE-5D92F533A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C5513-D890-4AF7-80AB-79FA820D5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DCC3-16A4-4002-9AE0-05C7020BA129}" type="datetimeFigureOut">
              <a:rPr lang="en-CA" smtClean="0"/>
              <a:t>2019-10-14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2AF56-7C17-485B-8B16-0626023E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368CB-C401-4D3B-95EA-72DB5A170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3506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BBA067-5B1B-4969-BFD0-E9850C9FE8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4340B1-A906-4571-87BB-8CC695AF8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9C86D-1C6B-4067-AF00-37B48D26F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DCC3-16A4-4002-9AE0-05C7020BA129}" type="datetimeFigureOut">
              <a:rPr lang="en-CA" smtClean="0"/>
              <a:t>2019-10-14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C0CB4-ABCE-485C-B1BE-98A0A0756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B0DF-2652-4B55-A25D-D6D17B4C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364667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692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67216D-6FC5-4FEC-8DDA-F0DB3417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211A5-11D4-4F77-8FF1-FBCA841EA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43BDC-C311-4BE7-BF99-D604393621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3DCC3-16A4-4002-9AE0-05C7020BA129}" type="datetimeFigureOut">
              <a:rPr lang="en-CA" smtClean="0"/>
              <a:t>2019-10-14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C8620-049C-4AA2-82F8-2B028C47CD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7D1F7-B1B8-46C5-B2E2-1B2CACCFA9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520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Recap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3"/>
          <p:cNvSpPr txBox="1">
            <a:spLocks noGrp="1"/>
          </p:cNvSpPr>
          <p:nvPr>
            <p:ph type="body" idx="1"/>
          </p:nvPr>
        </p:nvSpPr>
        <p:spPr>
          <a:xfrm>
            <a:off x="1297500" y="1116150"/>
            <a:ext cx="7038900" cy="32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Over last two weeks,</a:t>
            </a:r>
            <a:endParaRPr sz="1400"/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Started brainstorming solutions for product</a:t>
            </a:r>
            <a:endParaRPr sz="1400"/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Compiling list of components we need and the anticipated cost</a:t>
            </a:r>
            <a:endParaRPr sz="1400"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Met with client yesterday </a:t>
            </a:r>
            <a:endParaRPr sz="1400"/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Primary contact + technical contact present</a:t>
            </a:r>
            <a:endParaRPr sz="1400"/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Discussed potential solutions that will integrate within their POS system</a:t>
            </a:r>
            <a:endParaRPr sz="1400"/>
          </a:p>
          <a:p>
            <a:pPr marL="1371600" lvl="2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400"/>
              <a:t>The system is a black box , so this is important</a:t>
            </a:r>
            <a:endParaRPr sz="1400"/>
          </a:p>
          <a:p>
            <a:pPr marL="0" lvl="0" indent="0" algn="l" rtl="0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RCGs</a:t>
            </a:r>
            <a:endParaRPr/>
          </a:p>
        </p:txBody>
      </p:sp>
      <p:graphicFrame>
        <p:nvGraphicFramePr>
          <p:cNvPr id="141" name="Google Shape;141;p14"/>
          <p:cNvGraphicFramePr/>
          <p:nvPr/>
        </p:nvGraphicFramePr>
        <p:xfrm>
          <a:off x="952500" y="1085450"/>
          <a:ext cx="7239000" cy="2834490"/>
        </p:xfrm>
        <a:graphic>
          <a:graphicData uri="http://schemas.openxmlformats.org/drawingml/2006/table">
            <a:tbl>
              <a:tblPr>
                <a:noFill/>
                <a:tableStyleId>{6024880D-02FC-447F-BB3E-87BEF3945126}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Requirements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Constraints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Goals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Wireless communication (between end and edge device)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End to edge must use low power , low bandwidth protocol. Ex; zigbee 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Scalable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Low power consumption (IoT)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End to cloud must be use high bandwidth ex; wifi or ethernet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Low production cost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MS Azure 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Real time data handling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Should have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Wireless communication 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low power consumption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Configure to handle microsoft Azure API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Scalable 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Real time data handling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Could Have or nice to have</a:t>
            </a:r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Run on rechargeable batteries</a:t>
            </a:r>
            <a:endParaRPr sz="140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Minimalistic azure developed UI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Will not have ( at this time)</a:t>
            </a:r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Multiple end devices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Interchangeable  high bandwidth communication protocol ( i.e. can  switch from http to mqtt depending on the environment) 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Interchangeable low bandwidth protocol 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 of System</a:t>
            </a:r>
            <a:endParaRPr dirty="0"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867052" y="2062752"/>
            <a:ext cx="3656100" cy="17728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 dirty="0"/>
              <a:t>End device (with weight sensor) sends data to Edge device (middle layer) via IoT protocol. Zigbee is being considered. 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 dirty="0"/>
              <a:t>Edge device sends data to Azure IoT Cloud via internet protocol (</a:t>
            </a:r>
            <a:r>
              <a:rPr lang="en-GB" sz="1400" dirty="0" err="1"/>
              <a:t>Wifi</a:t>
            </a:r>
            <a:r>
              <a:rPr lang="en-GB" sz="1400" dirty="0"/>
              <a:t>, Ethernet)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 dirty="0"/>
              <a:t>User is able to access data from End devices from Azure Interface</a:t>
            </a:r>
            <a:endParaRPr sz="14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A55389B-94EE-4C3D-B209-1D0BABA078A3}"/>
              </a:ext>
            </a:extLst>
          </p:cNvPr>
          <p:cNvGrpSpPr/>
          <p:nvPr/>
        </p:nvGrpSpPr>
        <p:grpSpPr>
          <a:xfrm>
            <a:off x="4510586" y="299597"/>
            <a:ext cx="3868570" cy="3875734"/>
            <a:chOff x="4510586" y="299597"/>
            <a:chExt cx="3868570" cy="3875734"/>
          </a:xfrm>
        </p:grpSpPr>
        <p:sp>
          <p:nvSpPr>
            <p:cNvPr id="169" name="Google Shape;169;p18"/>
            <p:cNvSpPr/>
            <p:nvPr/>
          </p:nvSpPr>
          <p:spPr>
            <a:xfrm>
              <a:off x="5000525" y="1344158"/>
              <a:ext cx="2829601" cy="730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dirty="0"/>
                <a:t>Data abstraction middle layer </a:t>
              </a:r>
              <a:endParaRPr sz="1600" dirty="0"/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4995794" y="299597"/>
              <a:ext cx="2829600" cy="730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/>
                <a:t>Upstream; Azure IoT hub</a:t>
              </a:r>
              <a:endParaRPr dirty="0"/>
            </a:p>
          </p:txBody>
        </p:sp>
        <p:cxnSp>
          <p:nvCxnSpPr>
            <p:cNvPr id="186" name="Google Shape;186;p18"/>
            <p:cNvCxnSpPr>
              <a:cxnSpLocks/>
              <a:stCxn id="166" idx="0"/>
            </p:cNvCxnSpPr>
            <p:nvPr/>
          </p:nvCxnSpPr>
          <p:spPr>
            <a:xfrm flipV="1">
              <a:off x="5094386" y="2071308"/>
              <a:ext cx="1029771" cy="1103748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87" name="Google Shape;187;p18"/>
            <p:cNvCxnSpPr>
              <a:cxnSpLocks/>
              <a:stCxn id="95" idx="0"/>
              <a:endCxn id="169" idx="2"/>
            </p:cNvCxnSpPr>
            <p:nvPr/>
          </p:nvCxnSpPr>
          <p:spPr>
            <a:xfrm flipH="1" flipV="1">
              <a:off x="6415326" y="2074358"/>
              <a:ext cx="29545" cy="1100697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88" name="Google Shape;188;p18"/>
            <p:cNvCxnSpPr>
              <a:cxnSpLocks/>
              <a:stCxn id="102" idx="0"/>
            </p:cNvCxnSpPr>
            <p:nvPr/>
          </p:nvCxnSpPr>
          <p:spPr>
            <a:xfrm flipH="1" flipV="1">
              <a:off x="6707100" y="2071308"/>
              <a:ext cx="1088256" cy="1097648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89" name="Google Shape;189;p18"/>
            <p:cNvCxnSpPr>
              <a:cxnSpLocks/>
              <a:stCxn id="169" idx="0"/>
              <a:endCxn id="173" idx="2"/>
            </p:cNvCxnSpPr>
            <p:nvPr/>
          </p:nvCxnSpPr>
          <p:spPr>
            <a:xfrm flipH="1" flipV="1">
              <a:off x="6410594" y="1029797"/>
              <a:ext cx="4732" cy="314361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6A0DF7B-7D2F-4BC7-952B-9739628B6B56}"/>
                </a:ext>
              </a:extLst>
            </p:cNvPr>
            <p:cNvGrpSpPr/>
            <p:nvPr/>
          </p:nvGrpSpPr>
          <p:grpSpPr>
            <a:xfrm>
              <a:off x="4510586" y="3175056"/>
              <a:ext cx="1167600" cy="1000275"/>
              <a:chOff x="4510586" y="3175056"/>
              <a:chExt cx="1167600" cy="1000275"/>
            </a:xfrm>
          </p:grpSpPr>
          <p:sp>
            <p:nvSpPr>
              <p:cNvPr id="166" name="Google Shape;166;p18"/>
              <p:cNvSpPr/>
              <p:nvPr/>
            </p:nvSpPr>
            <p:spPr>
              <a:xfrm>
                <a:off x="4510586" y="3175056"/>
                <a:ext cx="1167600" cy="1000275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CA" sz="1200" dirty="0"/>
                  <a:t>Container 1</a:t>
                </a:r>
                <a:endParaRPr sz="1200" dirty="0"/>
              </a:p>
            </p:txBody>
          </p:sp>
          <p:sp>
            <p:nvSpPr>
              <p:cNvPr id="175" name="Google Shape;175;p18"/>
              <p:cNvSpPr/>
              <p:nvPr/>
            </p:nvSpPr>
            <p:spPr>
              <a:xfrm>
                <a:off x="4615846" y="3349162"/>
                <a:ext cx="367486" cy="167134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CA" sz="1000" dirty="0">
                    <a:highlight>
                      <a:srgbClr val="FFFF00"/>
                    </a:highlight>
                  </a:rPr>
                  <a:t>s1</a:t>
                </a:r>
                <a:endParaRPr sz="1000" dirty="0">
                  <a:highlight>
                    <a:srgbClr val="FFFF00"/>
                  </a:highlight>
                </a:endParaRPr>
              </a:p>
            </p:txBody>
          </p:sp>
          <p:sp>
            <p:nvSpPr>
              <p:cNvPr id="88" name="Google Shape;175;p18">
                <a:extLst>
                  <a:ext uri="{FF2B5EF4-FFF2-40B4-BE49-F238E27FC236}">
                    <a16:creationId xmlns:a16="http://schemas.microsoft.com/office/drawing/2014/main" id="{F4605A62-51B1-442A-B1F3-F4E3EA928539}"/>
                  </a:ext>
                </a:extLst>
              </p:cNvPr>
              <p:cNvSpPr/>
              <p:nvPr/>
            </p:nvSpPr>
            <p:spPr>
              <a:xfrm>
                <a:off x="5099898" y="3345970"/>
                <a:ext cx="367486" cy="167134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CA" sz="1000" dirty="0">
                    <a:highlight>
                      <a:srgbClr val="FFFF00"/>
                    </a:highlight>
                  </a:rPr>
                  <a:t>s2</a:t>
                </a:r>
                <a:endParaRPr sz="1000" dirty="0">
                  <a:highlight>
                    <a:srgbClr val="FFFF00"/>
                  </a:highlight>
                </a:endParaRPr>
              </a:p>
            </p:txBody>
          </p:sp>
          <p:sp>
            <p:nvSpPr>
              <p:cNvPr id="89" name="Google Shape;175;p18">
                <a:extLst>
                  <a:ext uri="{FF2B5EF4-FFF2-40B4-BE49-F238E27FC236}">
                    <a16:creationId xmlns:a16="http://schemas.microsoft.com/office/drawing/2014/main" id="{E08169E7-296B-4AFB-B2CF-28CA5E560A38}"/>
                  </a:ext>
                </a:extLst>
              </p:cNvPr>
              <p:cNvSpPr/>
              <p:nvPr/>
            </p:nvSpPr>
            <p:spPr>
              <a:xfrm>
                <a:off x="4910643" y="3619354"/>
                <a:ext cx="367486" cy="167134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CA" sz="1000" dirty="0">
                    <a:highlight>
                      <a:srgbClr val="FFFF00"/>
                    </a:highlight>
                  </a:rPr>
                  <a:t>s3</a:t>
                </a:r>
                <a:endParaRPr sz="1000" dirty="0"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DEDC5305-B13E-4D7D-B166-A3EC49E3212E}"/>
                </a:ext>
              </a:extLst>
            </p:cNvPr>
            <p:cNvGrpSpPr/>
            <p:nvPr/>
          </p:nvGrpSpPr>
          <p:grpSpPr>
            <a:xfrm>
              <a:off x="5861071" y="3175055"/>
              <a:ext cx="1167600" cy="1000275"/>
              <a:chOff x="4510586" y="3147328"/>
              <a:chExt cx="1167600" cy="1000275"/>
            </a:xfrm>
          </p:grpSpPr>
          <p:sp>
            <p:nvSpPr>
              <p:cNvPr id="95" name="Google Shape;166;p18">
                <a:extLst>
                  <a:ext uri="{FF2B5EF4-FFF2-40B4-BE49-F238E27FC236}">
                    <a16:creationId xmlns:a16="http://schemas.microsoft.com/office/drawing/2014/main" id="{2A06378F-86F8-4BC2-AE9F-E1008A0A6785}"/>
                  </a:ext>
                </a:extLst>
              </p:cNvPr>
              <p:cNvSpPr/>
              <p:nvPr/>
            </p:nvSpPr>
            <p:spPr>
              <a:xfrm>
                <a:off x="4510586" y="3147328"/>
                <a:ext cx="1167600" cy="1000275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CA" sz="1200" dirty="0"/>
                  <a:t>Container 2</a:t>
                </a:r>
                <a:endParaRPr sz="1200" dirty="0"/>
              </a:p>
            </p:txBody>
          </p:sp>
          <p:sp>
            <p:nvSpPr>
              <p:cNvPr id="96" name="Google Shape;175;p18">
                <a:extLst>
                  <a:ext uri="{FF2B5EF4-FFF2-40B4-BE49-F238E27FC236}">
                    <a16:creationId xmlns:a16="http://schemas.microsoft.com/office/drawing/2014/main" id="{C45FA5F5-639C-483A-9A27-DC747CF4B8E1}"/>
                  </a:ext>
                </a:extLst>
              </p:cNvPr>
              <p:cNvSpPr/>
              <p:nvPr/>
            </p:nvSpPr>
            <p:spPr>
              <a:xfrm>
                <a:off x="4615846" y="3349162"/>
                <a:ext cx="367486" cy="167134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CA" sz="1000" dirty="0">
                    <a:highlight>
                      <a:srgbClr val="FFFF00"/>
                    </a:highlight>
                  </a:rPr>
                  <a:t>s1</a:t>
                </a:r>
                <a:endParaRPr sz="1000" dirty="0">
                  <a:highlight>
                    <a:srgbClr val="FFFF00"/>
                  </a:highlight>
                </a:endParaRPr>
              </a:p>
            </p:txBody>
          </p:sp>
          <p:sp>
            <p:nvSpPr>
              <p:cNvPr id="97" name="Google Shape;175;p18">
                <a:extLst>
                  <a:ext uri="{FF2B5EF4-FFF2-40B4-BE49-F238E27FC236}">
                    <a16:creationId xmlns:a16="http://schemas.microsoft.com/office/drawing/2014/main" id="{9D674B7F-F0BE-403B-AB2C-558FDC6C240F}"/>
                  </a:ext>
                </a:extLst>
              </p:cNvPr>
              <p:cNvSpPr/>
              <p:nvPr/>
            </p:nvSpPr>
            <p:spPr>
              <a:xfrm>
                <a:off x="5099898" y="3345970"/>
                <a:ext cx="367486" cy="167134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CA" sz="1000" dirty="0">
                    <a:highlight>
                      <a:srgbClr val="FFFF00"/>
                    </a:highlight>
                  </a:rPr>
                  <a:t>s2</a:t>
                </a:r>
                <a:endParaRPr sz="1000" dirty="0">
                  <a:highlight>
                    <a:srgbClr val="FFFF00"/>
                  </a:highlight>
                </a:endParaRPr>
              </a:p>
            </p:txBody>
          </p:sp>
          <p:sp>
            <p:nvSpPr>
              <p:cNvPr id="98" name="Google Shape;175;p18">
                <a:extLst>
                  <a:ext uri="{FF2B5EF4-FFF2-40B4-BE49-F238E27FC236}">
                    <a16:creationId xmlns:a16="http://schemas.microsoft.com/office/drawing/2014/main" id="{C0679681-391F-45BD-B188-B2185982DCC5}"/>
                  </a:ext>
                </a:extLst>
              </p:cNvPr>
              <p:cNvSpPr/>
              <p:nvPr/>
            </p:nvSpPr>
            <p:spPr>
              <a:xfrm>
                <a:off x="4910643" y="3619354"/>
                <a:ext cx="367486" cy="167134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CA" sz="1000" dirty="0">
                    <a:highlight>
                      <a:srgbClr val="FFFF00"/>
                    </a:highlight>
                  </a:rPr>
                  <a:t>s3</a:t>
                </a:r>
                <a:endParaRPr sz="1000" dirty="0"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07E7A03D-0F61-4986-A109-CF398D5A5521}"/>
                </a:ext>
              </a:extLst>
            </p:cNvPr>
            <p:cNvGrpSpPr/>
            <p:nvPr/>
          </p:nvGrpSpPr>
          <p:grpSpPr>
            <a:xfrm>
              <a:off x="7211556" y="3168956"/>
              <a:ext cx="1167600" cy="1000275"/>
              <a:chOff x="4510586" y="3147328"/>
              <a:chExt cx="1167600" cy="1000275"/>
            </a:xfrm>
          </p:grpSpPr>
          <p:sp>
            <p:nvSpPr>
              <p:cNvPr id="102" name="Google Shape;166;p18">
                <a:extLst>
                  <a:ext uri="{FF2B5EF4-FFF2-40B4-BE49-F238E27FC236}">
                    <a16:creationId xmlns:a16="http://schemas.microsoft.com/office/drawing/2014/main" id="{A378F153-F609-4478-9757-6D5DF15FF90A}"/>
                  </a:ext>
                </a:extLst>
              </p:cNvPr>
              <p:cNvSpPr/>
              <p:nvPr/>
            </p:nvSpPr>
            <p:spPr>
              <a:xfrm>
                <a:off x="4510586" y="3147328"/>
                <a:ext cx="1167600" cy="1000275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CA" sz="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CA" sz="1200" dirty="0"/>
                  <a:t>Container 3</a:t>
                </a:r>
                <a:endParaRPr sz="1200" dirty="0"/>
              </a:p>
            </p:txBody>
          </p:sp>
          <p:sp>
            <p:nvSpPr>
              <p:cNvPr id="103" name="Google Shape;175;p18">
                <a:extLst>
                  <a:ext uri="{FF2B5EF4-FFF2-40B4-BE49-F238E27FC236}">
                    <a16:creationId xmlns:a16="http://schemas.microsoft.com/office/drawing/2014/main" id="{96804E8D-375F-4453-B5BC-E43115C930D4}"/>
                  </a:ext>
                </a:extLst>
              </p:cNvPr>
              <p:cNvSpPr/>
              <p:nvPr/>
            </p:nvSpPr>
            <p:spPr>
              <a:xfrm>
                <a:off x="4615846" y="3349162"/>
                <a:ext cx="367486" cy="167134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CA" sz="1000" dirty="0">
                    <a:highlight>
                      <a:srgbClr val="FFFF00"/>
                    </a:highlight>
                  </a:rPr>
                  <a:t>s1</a:t>
                </a:r>
                <a:endParaRPr sz="1000" dirty="0">
                  <a:highlight>
                    <a:srgbClr val="FFFF00"/>
                  </a:highlight>
                </a:endParaRPr>
              </a:p>
            </p:txBody>
          </p:sp>
          <p:sp>
            <p:nvSpPr>
              <p:cNvPr id="104" name="Google Shape;175;p18">
                <a:extLst>
                  <a:ext uri="{FF2B5EF4-FFF2-40B4-BE49-F238E27FC236}">
                    <a16:creationId xmlns:a16="http://schemas.microsoft.com/office/drawing/2014/main" id="{121F309F-68CC-4647-A13F-E4687BE5FF25}"/>
                  </a:ext>
                </a:extLst>
              </p:cNvPr>
              <p:cNvSpPr/>
              <p:nvPr/>
            </p:nvSpPr>
            <p:spPr>
              <a:xfrm>
                <a:off x="5099898" y="3345970"/>
                <a:ext cx="367486" cy="167134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CA" sz="1000" dirty="0">
                    <a:highlight>
                      <a:srgbClr val="FFFF00"/>
                    </a:highlight>
                  </a:rPr>
                  <a:t>s2</a:t>
                </a:r>
                <a:endParaRPr sz="1000" dirty="0">
                  <a:highlight>
                    <a:srgbClr val="FFFF00"/>
                  </a:highlight>
                </a:endParaRPr>
              </a:p>
            </p:txBody>
          </p:sp>
          <p:sp>
            <p:nvSpPr>
              <p:cNvPr id="105" name="Google Shape;175;p18">
                <a:extLst>
                  <a:ext uri="{FF2B5EF4-FFF2-40B4-BE49-F238E27FC236}">
                    <a16:creationId xmlns:a16="http://schemas.microsoft.com/office/drawing/2014/main" id="{BEA757D7-0540-4025-BCB9-5535EC0EE8C8}"/>
                  </a:ext>
                </a:extLst>
              </p:cNvPr>
              <p:cNvSpPr/>
              <p:nvPr/>
            </p:nvSpPr>
            <p:spPr>
              <a:xfrm>
                <a:off x="4910643" y="3619354"/>
                <a:ext cx="367486" cy="167134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CA" sz="1000" dirty="0">
                    <a:highlight>
                      <a:srgbClr val="FFFF00"/>
                    </a:highlight>
                  </a:rPr>
                  <a:t>s3</a:t>
                </a:r>
                <a:endParaRPr sz="1000" dirty="0">
                  <a:highlight>
                    <a:srgbClr val="FFFF00"/>
                  </a:highlight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2038675D-2FA6-4B6A-A70E-32B833A87263}"/>
              </a:ext>
            </a:extLst>
          </p:cNvPr>
          <p:cNvGrpSpPr/>
          <p:nvPr/>
        </p:nvGrpSpPr>
        <p:grpSpPr>
          <a:xfrm>
            <a:off x="254065" y="1312775"/>
            <a:ext cx="8212320" cy="3599467"/>
            <a:chOff x="254065" y="1312775"/>
            <a:chExt cx="8212320" cy="359946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28B625A-5B51-4F9F-9DB7-B6E0879B2AAE}"/>
                </a:ext>
              </a:extLst>
            </p:cNvPr>
            <p:cNvGrpSpPr/>
            <p:nvPr/>
          </p:nvGrpSpPr>
          <p:grpSpPr>
            <a:xfrm>
              <a:off x="3182464" y="1793497"/>
              <a:ext cx="3159696" cy="3118745"/>
              <a:chOff x="3450654" y="1796901"/>
              <a:chExt cx="3295013" cy="311534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18C00BB-ECF0-4FB1-B35E-D9172D32768C}"/>
                  </a:ext>
                </a:extLst>
              </p:cNvPr>
              <p:cNvSpPr/>
              <p:nvPr/>
            </p:nvSpPr>
            <p:spPr>
              <a:xfrm>
                <a:off x="3450654" y="1796901"/>
                <a:ext cx="3295013" cy="3115340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8" name="Google Shape;198;p19"/>
              <p:cNvSpPr/>
              <p:nvPr/>
            </p:nvSpPr>
            <p:spPr>
              <a:xfrm>
                <a:off x="3650251" y="2023921"/>
                <a:ext cx="2873998" cy="426385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dirty="0"/>
                  <a:t>low band com processing unit</a:t>
                </a:r>
                <a:endParaRPr sz="1600" dirty="0"/>
              </a:p>
            </p:txBody>
          </p:sp>
          <p:sp>
            <p:nvSpPr>
              <p:cNvPr id="199" name="Google Shape;199;p19"/>
              <p:cNvSpPr/>
              <p:nvPr/>
            </p:nvSpPr>
            <p:spPr>
              <a:xfrm>
                <a:off x="3693895" y="3020381"/>
                <a:ext cx="2830354" cy="393117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dirty="0"/>
                  <a:t>Processing RAM</a:t>
                </a:r>
                <a:endParaRPr dirty="0"/>
              </a:p>
            </p:txBody>
          </p:sp>
          <p:sp>
            <p:nvSpPr>
              <p:cNvPr id="200" name="Google Shape;200;p19"/>
              <p:cNvSpPr/>
              <p:nvPr/>
            </p:nvSpPr>
            <p:spPr>
              <a:xfrm>
                <a:off x="3672073" y="4111512"/>
                <a:ext cx="2873998" cy="426385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dirty="0"/>
                  <a:t>High band communication unit</a:t>
                </a:r>
                <a:endParaRPr sz="1600" dirty="0"/>
              </a:p>
            </p:txBody>
          </p:sp>
          <p:sp>
            <p:nvSpPr>
              <p:cNvPr id="204" name="Google Shape;204;p19"/>
              <p:cNvSpPr/>
              <p:nvPr/>
            </p:nvSpPr>
            <p:spPr>
              <a:xfrm>
                <a:off x="4861806" y="2504048"/>
                <a:ext cx="450887" cy="483300"/>
              </a:xfrm>
              <a:prstGeom prst="mathPlus">
                <a:avLst>
                  <a:gd name="adj1" fmla="val 2352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9"/>
              <p:cNvSpPr/>
              <p:nvPr/>
            </p:nvSpPr>
            <p:spPr>
              <a:xfrm>
                <a:off x="4874772" y="3435695"/>
                <a:ext cx="468600" cy="483300"/>
              </a:xfrm>
              <a:prstGeom prst="mathPlus">
                <a:avLst>
                  <a:gd name="adj1" fmla="val 2352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E742C68-C8B5-47AD-BCE9-6FF4E33A044D}"/>
                </a:ext>
              </a:extLst>
            </p:cNvPr>
            <p:cNvGrpSpPr/>
            <p:nvPr/>
          </p:nvGrpSpPr>
          <p:grpSpPr>
            <a:xfrm>
              <a:off x="254065" y="1796902"/>
              <a:ext cx="2146236" cy="3115340"/>
              <a:chOff x="254064" y="1796902"/>
              <a:chExt cx="2319015" cy="311534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B86733B-CB2E-4CCE-8957-022EAA2CB427}"/>
                  </a:ext>
                </a:extLst>
              </p:cNvPr>
              <p:cNvSpPr/>
              <p:nvPr/>
            </p:nvSpPr>
            <p:spPr>
              <a:xfrm>
                <a:off x="254064" y="1796902"/>
                <a:ext cx="2319015" cy="3115340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6" name="Google Shape;196;p19"/>
              <p:cNvSpPr/>
              <p:nvPr/>
            </p:nvSpPr>
            <p:spPr>
              <a:xfrm>
                <a:off x="459738" y="2016138"/>
                <a:ext cx="979200" cy="4011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dirty="0"/>
                  <a:t>sensors</a:t>
                </a:r>
                <a:endParaRPr dirty="0"/>
              </a:p>
            </p:txBody>
          </p:sp>
          <p:sp>
            <p:nvSpPr>
              <p:cNvPr id="197" name="Google Shape;197;p19"/>
              <p:cNvSpPr/>
              <p:nvPr/>
            </p:nvSpPr>
            <p:spPr>
              <a:xfrm>
                <a:off x="361577" y="3246400"/>
                <a:ext cx="1963200" cy="7065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dirty="0"/>
                  <a:t>Low band communication and processing unit</a:t>
                </a:r>
                <a:endParaRPr sz="1600" dirty="0"/>
              </a:p>
            </p:txBody>
          </p:sp>
          <p:sp>
            <p:nvSpPr>
              <p:cNvPr id="203" name="Google Shape;203;p19"/>
              <p:cNvSpPr/>
              <p:nvPr/>
            </p:nvSpPr>
            <p:spPr>
              <a:xfrm>
                <a:off x="715038" y="2633050"/>
                <a:ext cx="468600" cy="483300"/>
              </a:xfrm>
              <a:prstGeom prst="mathPlus">
                <a:avLst>
                  <a:gd name="adj1" fmla="val 2352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1" name="Google Shape;201;p19"/>
            <p:cNvSpPr/>
            <p:nvPr/>
          </p:nvSpPr>
          <p:spPr>
            <a:xfrm>
              <a:off x="6949201" y="2773474"/>
              <a:ext cx="1517184" cy="1199534"/>
            </a:xfrm>
            <a:prstGeom prst="cloud">
              <a:avLst/>
            </a:prstGeom>
            <a:solidFill>
              <a:srgbClr val="D0E0E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/>
                <a:t>IoT Hub</a:t>
              </a:r>
              <a:endParaRPr dirty="0"/>
            </a:p>
          </p:txBody>
        </p:sp>
        <p:cxnSp>
          <p:nvCxnSpPr>
            <p:cNvPr id="202" name="Google Shape;202;p19"/>
            <p:cNvCxnSpPr>
              <a:cxnSpLocks/>
              <a:stCxn id="20" idx="3"/>
              <a:endCxn id="38" idx="1"/>
            </p:cNvCxnSpPr>
            <p:nvPr/>
          </p:nvCxnSpPr>
          <p:spPr>
            <a:xfrm flipV="1">
              <a:off x="2400301" y="3352870"/>
              <a:ext cx="782163" cy="1702"/>
            </a:xfrm>
            <a:prstGeom prst="straightConnector1">
              <a:avLst/>
            </a:prstGeom>
            <a:noFill/>
            <a:ln w="76200" cap="flat" cmpd="sng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6" name="Google Shape;206;p19"/>
            <p:cNvCxnSpPr>
              <a:cxnSpLocks/>
              <a:stCxn id="38" idx="3"/>
              <a:endCxn id="201" idx="2"/>
            </p:cNvCxnSpPr>
            <p:nvPr/>
          </p:nvCxnSpPr>
          <p:spPr>
            <a:xfrm>
              <a:off x="6342160" y="3352870"/>
              <a:ext cx="611747" cy="20371"/>
            </a:xfrm>
            <a:prstGeom prst="straightConnector1">
              <a:avLst/>
            </a:prstGeom>
            <a:noFill/>
            <a:ln w="76200" cap="flat" cmpd="sng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B2606AFC-9A1A-475E-9768-47D087919700}"/>
                </a:ext>
              </a:extLst>
            </p:cNvPr>
            <p:cNvSpPr/>
            <p:nvPr/>
          </p:nvSpPr>
          <p:spPr>
            <a:xfrm>
              <a:off x="254066" y="1312775"/>
              <a:ext cx="2146236" cy="360933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End Device</a:t>
              </a: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ADC3C29D-3E7F-488F-A27D-E8A2477E9F00}"/>
                </a:ext>
              </a:extLst>
            </p:cNvPr>
            <p:cNvSpPr/>
            <p:nvPr/>
          </p:nvSpPr>
          <p:spPr>
            <a:xfrm>
              <a:off x="3192927" y="1318930"/>
              <a:ext cx="3159696" cy="360933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Edge Device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Milestones</a:t>
            </a:r>
            <a:endParaRPr/>
          </a:p>
        </p:txBody>
      </p:sp>
      <p:sp>
        <p:nvSpPr>
          <p:cNvPr id="212" name="Google Shape;212;p20"/>
          <p:cNvSpPr txBox="1">
            <a:spLocks noGrp="1"/>
          </p:cNvSpPr>
          <p:nvPr>
            <p:ph type="body" idx="1"/>
          </p:nvPr>
        </p:nvSpPr>
        <p:spPr>
          <a:xfrm>
            <a:off x="1297500" y="1195725"/>
            <a:ext cx="7038900" cy="23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/>
              <a:t>Individual hardware components at a functional level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 sz="1400"/>
              <a:t>End device (sensor + communication module)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 sz="1400"/>
              <a:t>Edge device (communication module for end device and IoT)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/>
              <a:t>Integration into one system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 sz="1400"/>
              <a:t>End device to Edge device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 sz="1400"/>
              <a:t>Edge device to IoT Hub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/>
              <a:t>MS Azure User Interface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 sz="1400"/>
              <a:t>Develop a UI using MS Azure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>
            <a:spLocks noGrp="1"/>
          </p:cNvSpPr>
          <p:nvPr>
            <p:ph type="title"/>
          </p:nvPr>
        </p:nvSpPr>
        <p:spPr>
          <a:xfrm>
            <a:off x="1347100" y="22022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Timeline</a:t>
            </a:r>
            <a:endParaRPr/>
          </a:p>
        </p:txBody>
      </p:sp>
      <p:sp>
        <p:nvSpPr>
          <p:cNvPr id="218" name="Google Shape;218;p21"/>
          <p:cNvSpPr txBox="1">
            <a:spLocks noGrp="1"/>
          </p:cNvSpPr>
          <p:nvPr>
            <p:ph type="body" idx="1"/>
          </p:nvPr>
        </p:nvSpPr>
        <p:spPr>
          <a:xfrm>
            <a:off x="1347100" y="737175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Design will be finalized soon after proposal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Begin ordering misc parts as soon as account is open 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Client is checking their inventory for dev boards and suggested to order major components under $100 through.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We are checking our own inventory from previous projects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2-3 weeks per ‘mini project’: configuration + troubleshooting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19" name="Google Shape;2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488" y="2086775"/>
            <a:ext cx="8589023" cy="27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Technical Task Distribution based on skill-set</a:t>
            </a:r>
            <a:endParaRPr/>
          </a:p>
        </p:txBody>
      </p:sp>
      <p:graphicFrame>
        <p:nvGraphicFramePr>
          <p:cNvPr id="225" name="Google Shape;225;p22"/>
          <p:cNvGraphicFramePr/>
          <p:nvPr/>
        </p:nvGraphicFramePr>
        <p:xfrm>
          <a:off x="373250" y="130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{6024880D-02FC-447F-BB3E-87BEF3945126}</a:tableStyleId>
              </a:tblPr>
              <a:tblGrid>
                <a:gridCol w="126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rgbClr val="FFFFFF"/>
                          </a:solidFill>
                        </a:rPr>
                        <a:t>Ammar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rgbClr val="FFFFFF"/>
                          </a:solidFill>
                        </a:rPr>
                        <a:t>Melika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rgbClr val="FFFFFF"/>
                          </a:solidFill>
                        </a:rPr>
                        <a:t>Wency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rgbClr val="FFFFFF"/>
                          </a:solidFill>
                        </a:rPr>
                        <a:t>Adil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C4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6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rgbClr val="FFFFFF"/>
                          </a:solidFill>
                        </a:rPr>
                        <a:t>Skill Area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Low bandwidth  Communication protocols integration ( end devices)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Cloud integration ( edge devices)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Data handling software , and software QA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Hardware-software integration 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6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rgbClr val="FFFFFF"/>
                          </a:solidFill>
                        </a:rPr>
                        <a:t>Notes of concern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Currently out of the country. Anticipated to be back on the 14th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Laptop recently water damaged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Non-technical task distribution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1053600" y="1450100"/>
            <a:ext cx="7282800" cy="27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-"/>
            </a:pPr>
            <a:r>
              <a:rPr lang="en-GB">
                <a:solidFill>
                  <a:srgbClr val="FFFFFF"/>
                </a:solidFill>
              </a:rPr>
              <a:t>We all are communicating through one email screen name, so admin tasks have been done based on who is free to do it the earliest </a:t>
            </a:r>
            <a:endParaRPr>
              <a:solidFill>
                <a:srgbClr val="FFFFFF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-"/>
            </a:pPr>
            <a:r>
              <a:rPr lang="en-GB">
                <a:solidFill>
                  <a:srgbClr val="FFFFFF"/>
                </a:solidFill>
              </a:rPr>
              <a:t>Everyone is listed as a delegate and has access to mailbox</a:t>
            </a:r>
            <a:endParaRPr>
              <a:solidFill>
                <a:srgbClr val="FFFFFF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-"/>
            </a:pPr>
            <a:r>
              <a:rPr lang="en-GB">
                <a:solidFill>
                  <a:srgbClr val="FFFFFF"/>
                </a:solidFill>
              </a:rPr>
              <a:t>This is run quickly  by other members either in person or in memos, to avoid duplicate emails, tasks etc.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452</TotalTime>
  <Words>512</Words>
  <Application>Microsoft Office PowerPoint</Application>
  <PresentationFormat>On-screen Show (16:9)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Arial</vt:lpstr>
      <vt:lpstr>Calibri Light</vt:lpstr>
      <vt:lpstr>Office Theme</vt:lpstr>
      <vt:lpstr>Recap</vt:lpstr>
      <vt:lpstr>RCGs</vt:lpstr>
      <vt:lpstr>Should have</vt:lpstr>
      <vt:lpstr>Could Have or nice to have</vt:lpstr>
      <vt:lpstr>Will not have ( at this time)</vt:lpstr>
      <vt:lpstr>Overview of System</vt:lpstr>
      <vt:lpstr>PowerPoint Presentation</vt:lpstr>
      <vt:lpstr>Milestones</vt:lpstr>
      <vt:lpstr>Project Timeline</vt:lpstr>
      <vt:lpstr>Technical Task Distribution based on skill-set</vt:lpstr>
      <vt:lpstr>Non-technical task distribution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</dc:title>
  <dc:creator>Melika</dc:creator>
  <cp:lastModifiedBy>Melika Salehi</cp:lastModifiedBy>
  <cp:revision>7</cp:revision>
  <dcterms:modified xsi:type="dcterms:W3CDTF">2019-10-15T04:26:05Z</dcterms:modified>
</cp:coreProperties>
</file>